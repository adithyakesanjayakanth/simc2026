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371600"/>
          </a:xfrm>
          <a:prstGeom prst="rect">
            <a:avLst/>
          </a:prstGeom>
          <a:noFill/>
        </p:spPr>
        <p:txBody>
          <a:bodyPr wrap="square" anchor="b" lIns="25400" rIns="25400" tIns="25400" bIns="25400">
            <a:spAutoFit/>
          </a:bodyPr>
          <a:lstStyle/>
          <a:p>
            <a:r>
              <a:rPr sz="4400" b="1" i="0">
                <a:solidFill>
                  <a:srgbClr val="FFFFFF"/>
                </a:solidFill>
                <a:latin typeface="Calibri"/>
              </a:rPr>
              <a:t>Question 3</a:t>
            </a:r>
          </a:p>
          <a:p>
            <a:r>
              <a:rPr sz="2200" b="0" i="0">
                <a:solidFill>
                  <a:srgbClr val="BED7E8"/>
                </a:solidFill>
                <a:latin typeface="Calibri"/>
              </a:rPr>
              <a:t>Cleaning, PCA &amp; Clustering of a High-Dimensional Spectroscopic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Calibri"/>
              </a:rPr>
              <a:t>SIMC 2026 Endeavour Challenge   ·   Parts (a)–(h)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500" b="0" i="0">
                <a:solidFill>
                  <a:srgbClr val="D8E2EC"/>
                </a:solidFill>
                <a:latin typeface="Calibri"/>
              </a:rPr>
              <a:t>1000 vials of fermented drinks, each an infrared spectrum over 3401 frequencies — the labels are lost. We use linear algebra to clean the data, compress it, and recover how many distinct drinks were tested.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1400" b="1" i="0">
                <a:solidFill>
                  <a:srgbClr val="FFFFFF"/>
                </a:solidFill>
                <a:latin typeface="Calibri"/>
              </a:rPr>
              <a:t>Clean (a)  →  Variance &amp; PCA (b, c)  →  Leading direction (d)  →  Cluster two ways (e, f, g)  →  Count (h)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66360"/>
            <a:ext cx="10515600" cy="960120"/>
          </a:xfrm>
          <a:prstGeom prst="roundRect">
            <a:avLst/>
          </a:prstGeom>
          <a:solidFill>
            <a:srgbClr val="162B47"/>
          </a:solidFill>
          <a:ln w="15875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1600" b="1" i="0">
                <a:solidFill>
                  <a:srgbClr val="E36A2B"/>
                </a:solidFill>
                <a:latin typeface="Calibri"/>
              </a:rPr>
              <a:t>Result: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40 blanks + 36 anomalies handled  ·  data is strongly low-dimensional (λ₁/λ₂≈3.5, elbow at 8)  ·  </a:t>
            </a:r>
            <a:r>
              <a:rPr sz="1600" b="1" i="0">
                <a:solidFill>
                  <a:srgbClr val="E36A2B"/>
                </a:solidFill>
                <a:latin typeface="Calibri"/>
              </a:rPr>
              <a:t>26 unique food samples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(a) — Remove the corrupted vials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2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Method: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reduce each spectrum to one number, its row-norm ‖x‖ (real peaks → large; empty vial → tiny).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Empty vials: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40 sit far below a clean gap; threshold = the middle of the largest gap (robust, no arbitrary cutoff).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Validation: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empties are 50.2% exact zeros vs 24.5% for real spectra — a detector-clipping fingerprint confirms the split.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The other error: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36 high-norm outliers at ‖x‖≈8.9, detached from the bulk — removed reversibly (could be a genuine strong drink).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Result: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cleaned design matrix with Ñ = 924 vials.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(a) — A clean gap isolates the bad vials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Figure</a:t>
            </a:r>
          </a:p>
        </p:txBody>
      </p:sp>
      <p:pic>
        <p:nvPicPr>
          <p:cNvPr id="6" name="Picture 5" descr="fig1_top_rown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74532"/>
            <a:ext cx="5577840" cy="3137535"/>
          </a:xfrm>
          <a:prstGeom prst="rect">
            <a:avLst/>
          </a:prstGeom>
          <a:ln w="9525">
            <a:solidFill>
              <a:srgbClr val="CFD6DD"/>
            </a:solidFill>
          </a:ln>
        </p:spPr>
      </p:pic>
      <p:pic>
        <p:nvPicPr>
          <p:cNvPr id="7" name="Picture 6" descr="fig1_bot_high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541264" cy="4617720"/>
          </a:xfrm>
          <a:prstGeom prst="rect">
            <a:avLst/>
          </a:prstGeom>
          <a:ln w="9525">
            <a:solidFill>
              <a:srgbClr val="CFD6DD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1250" b="0" i="1">
                <a:solidFill>
                  <a:srgbClr val="1F3A5F"/>
                </a:solidFill>
                <a:latin typeface="Calibri"/>
              </a:rPr>
              <a:t>40 empty vials sit below the threshold (left); the 36 high-norm vials form one tight, isolated cluster (right).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(b) — Variance &amp; the covariance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3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Setup: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mean-center, then form the covariance C = (1/N) X̃ᵀX̃; its diagonal Cⱼⱼ is each feature's variance.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Largest-variance feature: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 j* = 910,  variance ≈ 0.0199.   Total variance tr(C) ≈ 7.90.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Structure: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variance concentrates in a few narrow molecular bands; most of the 3401 frequencies are flat.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707680"/>
                </a:solidFill>
                <a:latin typeface="Calibri"/>
              </a:rPr>
              <a:t>      –  </a:t>
            </a:r>
            <a:r>
              <a:rPr sz="1500" b="0" i="0">
                <a:solidFill>
                  <a:srgbClr val="232933"/>
                </a:solidFill>
                <a:latin typeface="Calibri"/>
              </a:rPr>
              <a:t>→ only a handful of frequencies carry information — the data is effectively low-dimensional.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(b) — Variance lives in a few narrow bands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Figure</a:t>
            </a:r>
          </a:p>
        </p:txBody>
      </p:sp>
      <p:pic>
        <p:nvPicPr>
          <p:cNvPr id="6" name="Picture 5" descr="fig2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25168"/>
            <a:ext cx="10908792" cy="3636264"/>
          </a:xfrm>
          <a:prstGeom prst="rect">
            <a:avLst/>
          </a:prstGeom>
          <a:ln w="9525">
            <a:solidFill>
              <a:srgbClr val="CFD6DD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1250" b="0" i="1">
                <a:solidFill>
                  <a:srgbClr val="1F3A5F"/>
                </a:solidFill>
                <a:latin typeface="Calibri"/>
              </a:rPr>
              <a:t>Per-feature variance spikes in a few molecular bands; the red line marks the maximal-variance feature j* = 910.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(c) — The eigenspectrum (PCA)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4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PCA: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eigendecomposition of C (via eigh — symmetric, stable, guaranteed real eigenvalues).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Dominance ratio: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 λ₁/λ₂ ≈ 3.53  → one strong principal axis (a wide spectral gap).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Elbow k* = 8: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the largest multiplicative drop is λ₈/λ₉ ≈ 4.1 (use the ratio on a log scale, not the difference).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Large ratio ⇒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low intrinsic dimension: signal lives in ~8 of 3401 dimensions (echoes the ~10 dominant molecules).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Caution: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the “95% variance” rule needs 667 components here — the elbow is the honest measure of dimensionality.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(c) — A sharp elbow at k* =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Figures</a:t>
            </a:r>
          </a:p>
        </p:txBody>
      </p:sp>
      <p:pic>
        <p:nvPicPr>
          <p:cNvPr id="6" name="Picture 5" descr="fig3_eigenspectr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1536" y="1234440"/>
            <a:ext cx="6405879" cy="2217420"/>
          </a:xfrm>
          <a:prstGeom prst="rect">
            <a:avLst/>
          </a:prstGeom>
          <a:ln w="9525">
            <a:solidFill>
              <a:srgbClr val="CFD6DD"/>
            </a:solidFill>
          </a:ln>
        </p:spPr>
      </p:pic>
      <p:pic>
        <p:nvPicPr>
          <p:cNvPr id="7" name="Picture 6" descr="fig4_cumv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296" y="3634740"/>
            <a:ext cx="5420360" cy="2217420"/>
          </a:xfrm>
          <a:prstGeom prst="rect">
            <a:avLst/>
          </a:prstGeom>
          <a:ln w="9525">
            <a:solidFill>
              <a:srgbClr val="CFD6DD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1250" b="0" i="1">
                <a:solidFill>
                  <a:srgbClr val="1F3A5F"/>
                </a:solidFill>
                <a:latin typeface="Calibri"/>
              </a:rPr>
              <a:t>Eigenvalue spectrum (top): a sharp elbow at k*=8 on the log scale. Cumulative variance (bottom): 95% needs 667 components.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(d) — Interpreting the leading eigenvector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4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ν₁ in feature space: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a loading on each frequency; the score z = X̃ν₁ is the most informative one-number summary of a vial.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Interpretation: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concentrated on two narrow bands (j≈900–960 and 3150–3260) with mixed sign (~27% negative).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707680"/>
                </a:solidFill>
                <a:latin typeface="Calibri"/>
              </a:rPr>
              <a:t>      –  </a:t>
            </a:r>
            <a:r>
              <a:rPr sz="1500" b="0" i="0">
                <a:solidFill>
                  <a:srgbClr val="232933"/>
                </a:solidFill>
                <a:latin typeface="Calibri"/>
              </a:rPr>
              <a:t>→ a contrast direction: it splits vials by the balance of absorption between bands, not by overall brightness.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Resemble a raw spectrum?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 cos≈0.92 vs a centered spectrum, but only 0.67 vs raw and 0.03 vs the mean.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707680"/>
                </a:solidFill>
                <a:latin typeface="Calibri"/>
              </a:rPr>
              <a:t>      –  </a:t>
            </a:r>
            <a:r>
              <a:rPr sz="1500" b="0" i="0">
                <a:solidFill>
                  <a:srgbClr val="232933"/>
                </a:solidFill>
                <a:latin typeface="Calibri"/>
              </a:rPr>
              <a:t>→ ν₁ is a difference-spectrum, a consequence of mean-centering (mirrors Q1's steady-state direction).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(d) — An interpretable contrast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Figure</a:t>
            </a:r>
          </a:p>
        </p:txBody>
      </p:sp>
      <p:pic>
        <p:nvPicPr>
          <p:cNvPr id="6" name="Picture 5" descr="fig5_top_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346" y="1234440"/>
            <a:ext cx="6652259" cy="2217420"/>
          </a:xfrm>
          <a:prstGeom prst="rect">
            <a:avLst/>
          </a:prstGeom>
          <a:ln w="9525">
            <a:solidFill>
              <a:srgbClr val="CFD6DD"/>
            </a:solidFill>
          </a:ln>
        </p:spPr>
      </p:pic>
      <p:pic>
        <p:nvPicPr>
          <p:cNvPr id="7" name="Picture 6" descr="fig5_bot_over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346" y="3634740"/>
            <a:ext cx="6652259" cy="2217420"/>
          </a:xfrm>
          <a:prstGeom prst="rect">
            <a:avLst/>
          </a:prstGeom>
          <a:ln w="9525">
            <a:solidFill>
              <a:srgbClr val="CFD6DD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1250" b="0" i="1">
                <a:solidFill>
                  <a:srgbClr val="1F3A5F"/>
                </a:solidFill>
                <a:latin typeface="Calibri"/>
              </a:rPr>
              <a:t>ν₁ loadings concentrate on two molecular bands with mixed sign (top); ν₁ matches a centered spectrum at cos≈0.92, not a raw one (bottom).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(e) — Clusters via the covariance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2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Compress: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project each vial onto the top-4 eigenvectors of C — Z = X̃ V₄ ∈ ℝ^(Ñ×4).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Why four: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inside the 8 signal directions, yet few enough to inspect as (4 choose 2) = 6 pairwise scatter plots.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Picture: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many tight, well-separated blobs — each is a set of vials with near-identical spectra (one concoction).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Count: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≈ 25 clusters, stable across a wide range of radius → a property of the data, not of the threshold.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(e) — Clusters in covariance (feature)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Figure</a:t>
            </a:r>
          </a:p>
        </p:txBody>
      </p:sp>
      <p:pic>
        <p:nvPicPr>
          <p:cNvPr id="6" name="Picture 5" descr="fig6_cov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376" y="1234440"/>
            <a:ext cx="7696199" cy="4617720"/>
          </a:xfrm>
          <a:prstGeom prst="rect">
            <a:avLst/>
          </a:prstGeom>
          <a:ln w="9525">
            <a:solidFill>
              <a:srgbClr val="CFD6DD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1250" b="0" i="1">
                <a:solidFill>
                  <a:srgbClr val="1F3A5F"/>
                </a:solidFill>
                <a:latin typeface="Calibri"/>
              </a:rPr>
              <a:t>The 6 pairwise scatter plots of the top-4 covariance components: about 25 tight, well-separated clusters.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(f) — Clusters via the Gram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4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Gram matrix: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 G = (1/N) X̃ X̃ᵀ  (Ñ×Ñ, sample space); Gᵢⱼ is the similarity between vials i and j.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No projection needed: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G's top-4 eigenvectors are already the sample coordinates (scale by √(Ñλ)=σ to match units).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Same 6 scatters: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they reproduce the covariance-space pictures up to per-axis sign flips.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Count: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25 clusters again, stable over the same range of radius.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(f) — Clusters in Gram (sample) 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Figure</a:t>
            </a:r>
          </a:p>
        </p:txBody>
      </p:sp>
      <p:pic>
        <p:nvPicPr>
          <p:cNvPr id="6" name="Picture 5" descr="fig7_gram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6376" y="1234440"/>
            <a:ext cx="7696199" cy="4617720"/>
          </a:xfrm>
          <a:prstGeom prst="rect">
            <a:avLst/>
          </a:prstGeom>
          <a:ln w="9525">
            <a:solidFill>
              <a:srgbClr val="CFD6DD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1250" b="0" i="1">
                <a:solidFill>
                  <a:srgbClr val="1F3A5F"/>
                </a:solidFill>
                <a:latin typeface="Calibri"/>
              </a:rPr>
              <a:t>The same 6 scatter plots in Gram (sample) space: the same ~25 clusters, up to per-axis reflections.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(g) — Comparing the two approaches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3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Same count — forced by algebra: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if Cν=λν then X̃ν is an eigenvector of G with the same λ, so C and G share their nonzero eigenvalues.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707680"/>
                </a:solidFill>
                <a:latin typeface="Calibri"/>
              </a:rPr>
              <a:t>      –  </a:t>
            </a:r>
            <a:r>
              <a:rPr sz="1500" b="0" i="0">
                <a:solidFill>
                  <a:srgbClr val="232933"/>
                </a:solidFill>
                <a:latin typeface="Calibri"/>
              </a:rPr>
              <a:t>With the SVD X̃ = UΣVᵀ, both coordinate sets equal UΣ up to a per-axis sign (matched comps |corr|=1, others ≈0).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Covariance space asks: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“which mixture of frequencies does this vial express?”  (coords = projections onto feature patterns).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Gram space asks: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“which other vials does this one resemble?”  (coords = a similarity fingerprint).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6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1F3A5F"/>
                </a:solidFill>
                <a:latin typeface="Calibri"/>
              </a:rPr>
              <a:t>Either way:</a:t>
            </a:r>
            <a:r>
              <a:rPr sz="1650" b="0" i="0">
                <a:solidFill>
                  <a:srgbClr val="232933"/>
                </a:solidFill>
                <a:latin typeface="Calibri"/>
              </a:rPr>
              <a:t> near-identical spectra map to the same point → the two routes give the same clusters.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(g) — The two clusterings are identical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Figure</a:t>
            </a:r>
          </a:p>
        </p:txBody>
      </p:sp>
      <p:pic>
        <p:nvPicPr>
          <p:cNvPr id="6" name="Picture 5" descr="fig8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426" y="1234440"/>
            <a:ext cx="9284098" cy="4617720"/>
          </a:xfrm>
          <a:prstGeom prst="rect">
            <a:avLst/>
          </a:prstGeom>
          <a:ln w="9525">
            <a:solidFill>
              <a:srgbClr val="CFD6DD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1250" b="0" i="1">
                <a:solidFill>
                  <a:srgbClr val="1F3A5F"/>
                </a:solidFill>
                <a:latin typeface="Calibri"/>
              </a:rPr>
              <a:t>Matching components are perfectly correlated (|corr|=1) and distinct ones uncorrelated — the clusters coincide up to 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(h) — How many unique food samples?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6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846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F3A5F"/>
                </a:solidFill>
                <a:latin typeface="Calibri"/>
              </a:rPr>
              <a:t>Cluster the genuine vials</a:t>
            </a:r>
            <a:r>
              <a:rPr sz="1550" b="0" i="0">
                <a:solidFill>
                  <a:srgbClr val="232933"/>
                </a:solidFill>
                <a:latin typeface="Calibri"/>
              </a:rPr>
              <a:t> in the top-8 signal subspace (the elbow denoises the data so groups separate cleanly).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F3A5F"/>
                </a:solidFill>
                <a:latin typeface="Calibri"/>
              </a:rPr>
              <a:t>924-vial clustering → 25;</a:t>
            </a:r>
            <a:r>
              <a:rPr sz="1550" b="0" i="0">
                <a:solidFill>
                  <a:srgbClr val="232933"/>
                </a:solidFill>
                <a:latin typeface="Calibri"/>
              </a:rPr>
              <a:t> restoring the 36 high-norm vials (a real strong concoction kept in part a) adds the 26th.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F3A5F"/>
                </a:solidFill>
                <a:latin typeface="Calibri"/>
              </a:rPr>
              <a:t>Answer: 26 unique food samples,</a:t>
            </a:r>
            <a:r>
              <a:rPr sz="1550" b="0" i="0">
                <a:solidFill>
                  <a:srgbClr val="232933"/>
                </a:solidFill>
                <a:latin typeface="Calibri"/>
              </a:rPr>
              <a:t> each measured ≈ 37 times  (24×37 + 2×36 = 960).</a:t>
            </a:r>
          </a:p>
          <a:p>
            <a:pPr lvl="1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707680"/>
                </a:solidFill>
                <a:latin typeface="Calibri"/>
              </a:rPr>
              <a:t>      –  </a:t>
            </a:r>
            <a:r>
              <a:rPr sz="1400" b="0" i="0">
                <a:solidFill>
                  <a:srgbClr val="232933"/>
                </a:solidFill>
                <a:latin typeface="Calibri"/>
              </a:rPr>
              <a:t>Flat, equal-size groups are the fingerprint of a designed experiment (26 &lt; 100, as the tester suspected).</a:t>
            </a: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550" b="1" i="0">
                <a:solidFill>
                  <a:srgbClr val="2E86AB"/>
                </a:solidFill>
                <a:latin typeface="Calibri"/>
              </a:rPr>
              <a:t>▸  </a:t>
            </a:r>
            <a:r>
              <a:rPr sz="1550" b="1" i="0">
                <a:solidFill>
                  <a:srgbClr val="1F3A5F"/>
                </a:solidFill>
                <a:latin typeface="Calibri"/>
              </a:rPr>
              <a:t>Parts that mattered:</a:t>
            </a:r>
            <a:r>
              <a:rPr sz="1550" b="0" i="0">
                <a:solidFill>
                  <a:srgbClr val="232933"/>
                </a:solidFill>
                <a:latin typeface="Calibri"/>
              </a:rPr>
              <a:t> (a) cleaning removed a noise “cluster”; (c) the elbow let us cluster in denoised 8-D, not noisy 3401-D; (e–g) gave the count and proved it method-independent; (b, d) showed the data is low-dim with meaningful directions.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877824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Calibri"/>
              </a:rPr>
              <a:t>Part (h) — 26 distinct concoctions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91440"/>
            <a:ext cx="2560320" cy="82296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r"/>
            <a:r>
              <a:rPr sz="1400" b="1" i="0">
                <a:solidFill>
                  <a:srgbClr val="BED7E8"/>
                </a:solidFill>
                <a:latin typeface="Calibri"/>
              </a:rPr>
              <a:t>Figure</a:t>
            </a:r>
          </a:p>
        </p:txBody>
      </p:sp>
      <p:pic>
        <p:nvPicPr>
          <p:cNvPr id="6" name="Picture 5" descr="fig9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926" y="1234440"/>
            <a:ext cx="5877098" cy="4617720"/>
          </a:xfrm>
          <a:prstGeom prst="rect">
            <a:avLst/>
          </a:prstGeom>
          <a:ln w="9525">
            <a:solidFill>
              <a:srgbClr val="CFD6DD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548640" y="5989320"/>
            <a:ext cx="11091672" cy="411480"/>
          </a:xfrm>
          <a:prstGeom prst="rect">
            <a:avLst/>
          </a:prstGeom>
          <a:solidFill>
            <a:srgbClr val="EC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2700" bIns="12700"/>
          <a:lstStyle/>
          <a:p>
            <a:pPr algn="ctr"/>
            <a:r>
              <a:rPr sz="1250" b="0" i="1">
                <a:solidFill>
                  <a:srgbClr val="1F3A5F"/>
                </a:solidFill>
                <a:latin typeface="Calibri"/>
              </a:rPr>
              <a:t>924 genuine vials → 25 tight clusters (one concoction per colour); + the kept high-norm concoction = 26 unique samples.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64008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r>
              <a:rPr sz="900" b="0" i="0">
                <a:solidFill>
                  <a:srgbClr val="707680"/>
                </a:solidFill>
                <a:latin typeface="Calibri"/>
              </a:rPr>
              <a:t>SIMC 2026  ·  Endeavour Challenge  ·  Question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73952"/>
            <a:ext cx="914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/>
            <a:r>
              <a:rPr sz="1000" b="1" i="0">
                <a:solidFill>
                  <a:srgbClr val="70768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